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8" r:id="rId2"/>
    <p:sldId id="259" r:id="rId3"/>
    <p:sldId id="310" r:id="rId4"/>
    <p:sldId id="269" r:id="rId5"/>
    <p:sldId id="311" r:id="rId6"/>
    <p:sldId id="312" r:id="rId7"/>
    <p:sldId id="313" r:id="rId8"/>
    <p:sldId id="260" r:id="rId9"/>
    <p:sldId id="261" r:id="rId10"/>
    <p:sldId id="314" r:id="rId11"/>
    <p:sldId id="315" r:id="rId12"/>
    <p:sldId id="264" r:id="rId13"/>
    <p:sldId id="265" r:id="rId14"/>
    <p:sldId id="266" r:id="rId15"/>
    <p:sldId id="31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25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EA43DE-F863-4665-89A4-4C0006D934FF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70D4E3-81BF-4136-8CC8-0A268553B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042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83BCE-F9F0-46B2-82BA-89D6978EE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1B513A-FFEA-4DB1-A30B-883FA4DF6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48F93-23BA-4A8F-A6BC-4A965ED18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5D81-A70C-498F-9944-E908A625172A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1E8E0-CD70-4FF8-BE30-B936C58F3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5DE16-A2D1-4DF1-8D4C-40DF8A947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C52AF-19B8-49DB-B4EF-7D8FE5384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489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C0B91-3B1E-4463-BC33-E4907328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7A90E-D6E3-474C-8102-F51F59EE2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1D932-121B-4075-9980-58AD405FB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5D81-A70C-498F-9944-E908A625172A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40960-FDD6-4089-9EDD-6C43FB135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BFF08-479E-431C-ABBC-E1DA19AE9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C52AF-19B8-49DB-B4EF-7D8FE5384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175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FCC4-F4CB-43BC-B091-90311BF90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EC31D-115E-4BFB-A885-0CD101FAF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1E40A-DCCA-4B15-B159-549AD8C4A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5D81-A70C-498F-9944-E908A625172A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429AB-3277-48E1-AF60-BC4EE0D0A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A661A-D5AC-4328-8C2F-A2496413A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C52AF-19B8-49DB-B4EF-7D8FE5384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211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81955-01D9-4159-B750-40E3CAACD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C7F7E-7005-4518-88DC-BDE748E19D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F22C0A-8895-43AE-8A40-E8B8CA727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5DB2D9-C287-4ED6-B90F-EEADDDA79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5D81-A70C-498F-9944-E908A625172A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52A5E7-60FC-476D-BBAD-97F2F3636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E82FE-35D6-4A11-BD88-C12B9022A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C52AF-19B8-49DB-B4EF-7D8FE5384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333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13B8A-8686-4C6B-BCB6-B709F926D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70BE1-A510-431D-82C2-D31C845EB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2093B-A52B-4D1D-96EE-76D0764D1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0E5C94-AE4D-4B14-B349-89B3658EED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F9BBC7-57DA-41DD-9BD5-853B7322D9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4B4E9C-4B5A-41D8-AE58-40F0323BF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5D81-A70C-498F-9944-E908A625172A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039655-7E44-4004-846A-FF74C0769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E8094E-C2EE-4E37-BF1D-CCF95C78A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C52AF-19B8-49DB-B4EF-7D8FE5384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4972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1F92C-1854-4BAC-BDCB-20493084D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92E20A-66D5-4685-95AB-B565A4849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5D81-A70C-498F-9944-E908A625172A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E6679-CA41-4568-81E7-88D2F330E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5411C-CB57-4977-BB04-14187716D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C52AF-19B8-49DB-B4EF-7D8FE5384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289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9AD072-2C55-4387-8DAF-00FF54AD1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5D81-A70C-498F-9944-E908A625172A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2A9AED-5D13-4151-BB52-64E730C5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5CD6E-386E-427F-9815-3801E633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C52AF-19B8-49DB-B4EF-7D8FE5384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057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3EE72-1803-4CE3-B116-043E40C35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150CD-0AA7-498C-9650-6EA63F42F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366982-64BE-493C-80E0-DD2E47A31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55D80-C641-471F-9FF3-89CD421DA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5D81-A70C-498F-9944-E908A625172A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26DA6-7AA9-4A98-A003-D7156600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9AE39-3570-4E0F-AF93-7A4F814E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C52AF-19B8-49DB-B4EF-7D8FE5384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3670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13129-8DD6-4A02-A989-72D921E4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170772-6FAA-440D-B717-19AAE468B1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C2786-D2DB-4F30-85C9-8A85BC760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4F8B6-7EE0-4D5F-BADE-BBF6CF49B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5D81-A70C-498F-9944-E908A625172A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4A546-9230-4A8B-86D4-74E5E0B3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C455E-CEDA-4CFA-9F73-81311873B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C52AF-19B8-49DB-B4EF-7D8FE5384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351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CF07C-223D-45DE-AC98-DC480F61F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12D252-87B8-4D35-B010-7ABB11D8C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D8F9F-B48D-4E77-9E90-4C24B86CE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5D81-A70C-498F-9944-E908A625172A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66F44-9264-451A-8BA1-622E632E8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C1A5E-7AF8-4080-83CF-2DBC897DE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C52AF-19B8-49DB-B4EF-7D8FE5384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970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C06AEE-8410-4C63-8704-2415B3407A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6BE28B-A25F-43CD-AC35-23D099319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221A5-C852-4FBF-BF5F-52F044AF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5D81-A70C-498F-9944-E908A625172A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97EB0-CD60-48DB-9078-E6799FF56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308EC-EEBB-4B8B-A57E-81905EC7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C52AF-19B8-49DB-B4EF-7D8FE5384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132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476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825347-5E2B-42DD-92DA-E18914F6A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806F2-17C1-4CEC-98DC-379F119AF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3E67F-1719-4E54-A7F7-A5655BC93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55D81-A70C-498F-9944-E908A625172A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9E3C9-DE45-4C55-B832-8B79F5FFE8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442C2-CF5A-4FF4-9E2C-3C43FFE9F4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C52AF-19B8-49DB-B4EF-7D8FE5384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8921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13.jpeg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90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1656" y="647411"/>
            <a:ext cx="2980798" cy="1624456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extBox 5"/>
          <p:cNvSpPr txBox="1"/>
          <p:nvPr/>
        </p:nvSpPr>
        <p:spPr>
          <a:xfrm>
            <a:off x="766639" y="2985690"/>
            <a:ext cx="7214387" cy="75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000">
                <a:solidFill>
                  <a:srgbClr val="FFFFFF"/>
                </a:solidFill>
                <a:latin typeface="FrutigerLTArabic-55Roman"/>
                <a:ea typeface="FrutigerLTArabic-55Roman"/>
                <a:cs typeface="FrutigerLTArabic-55Roman"/>
                <a:sym typeface="FrutigerLTArabic-55Roman"/>
              </a:defRPr>
            </a:lvl1pPr>
          </a:lstStyle>
          <a:p>
            <a:pPr rtl="0">
              <a:defRPr/>
            </a:pPr>
            <a:r>
              <a:t>الجامعة السعودية الالكترونية</a:t>
            </a:r>
          </a:p>
        </p:txBody>
      </p:sp>
      <p:sp>
        <p:nvSpPr>
          <p:cNvPr id="97" name="TextBox 7"/>
          <p:cNvSpPr txBox="1"/>
          <p:nvPr/>
        </p:nvSpPr>
        <p:spPr>
          <a:xfrm>
            <a:off x="766639" y="3633720"/>
            <a:ext cx="5606235" cy="559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800">
                <a:solidFill>
                  <a:srgbClr val="FFFFFF"/>
                </a:solidFill>
                <a:latin typeface="Frutiger LT Arabic 45 Light"/>
                <a:ea typeface="Frutiger LT Arabic 45 Light"/>
                <a:cs typeface="Frutiger LT Arabic 45 Light"/>
                <a:sym typeface="Frutiger LT Arabic 45 Light"/>
              </a:defRPr>
            </a:lvl1pPr>
          </a:lstStyle>
          <a:p>
            <a:pPr rtl="0">
              <a:defRPr/>
            </a:pPr>
            <a:r>
              <a:t>الجامعة السعودية الالكترونية</a:t>
            </a:r>
          </a:p>
        </p:txBody>
      </p:sp>
      <p:sp>
        <p:nvSpPr>
          <p:cNvPr id="98" name="TextBox 8"/>
          <p:cNvSpPr txBox="1"/>
          <p:nvPr/>
        </p:nvSpPr>
        <p:spPr>
          <a:xfrm>
            <a:off x="882050" y="6223460"/>
            <a:ext cx="1461659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FFFFFF"/>
                </a:solidFill>
                <a:latin typeface="Frutiger LT Arabic 45 Light"/>
                <a:ea typeface="Frutiger LT Arabic 45 Light"/>
                <a:cs typeface="Frutiger LT Arabic 45 Light"/>
                <a:sym typeface="Frutiger LT Arabic 45 Light"/>
              </a:defRPr>
            </a:lvl1pPr>
          </a:lstStyle>
          <a:p>
            <a:pPr rtl="0">
              <a:defRPr/>
            </a:pPr>
            <a:r>
              <a:t>26/12/2021</a:t>
            </a:r>
          </a:p>
        </p:txBody>
      </p:sp>
      <p:pic>
        <p:nvPicPr>
          <p:cNvPr id="99" name="Picture 10" descr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874" y="5935098"/>
            <a:ext cx="5418602" cy="4848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Artboard 3@2x.png" descr="Artboard 3@2x.png"/>
          <p:cNvPicPr>
            <a:picLocks noChangeAspect="1"/>
          </p:cNvPicPr>
          <p:nvPr/>
        </p:nvPicPr>
        <p:blipFill>
          <a:blip r:embed="rId5"/>
          <a:srcRect t="8869" r="116" b="11106"/>
          <a:stretch>
            <a:fillRect/>
          </a:stretch>
        </p:blipFill>
        <p:spPr>
          <a:xfrm>
            <a:off x="1784" y="-22926"/>
            <a:ext cx="12188316" cy="69038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Artboard 4@2x.png" descr="Artboard 4@2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7969" y="1856431"/>
            <a:ext cx="3877457" cy="22585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Artboard 3@2x.png" descr="Artboard 3@2x.png"/>
          <p:cNvPicPr>
            <a:picLocks noChangeAspect="1"/>
          </p:cNvPicPr>
          <p:nvPr/>
        </p:nvPicPr>
        <p:blipFill>
          <a:blip r:embed="rId2"/>
          <a:srcRect t="8869" r="116" b="11106"/>
          <a:stretch>
            <a:fillRect/>
          </a:stretch>
        </p:blipFill>
        <p:spPr>
          <a:xfrm>
            <a:off x="1784" y="-22926"/>
            <a:ext cx="12188316" cy="6903851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extBox 2"/>
          <p:cNvSpPr txBox="1"/>
          <p:nvPr/>
        </p:nvSpPr>
        <p:spPr>
          <a:xfrm>
            <a:off x="526941" y="2193631"/>
            <a:ext cx="7661715" cy="2062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rtl="0">
              <a:defRPr sz="3200">
                <a:solidFill>
                  <a:srgbClr val="FFFFFF"/>
                </a:solidFill>
                <a:latin typeface="FrutigerLTArabic-55Roman"/>
                <a:ea typeface="FrutigerLTArabic-55Roman"/>
                <a:cs typeface="FrutigerLTArabic-55Roman"/>
                <a:sym typeface="FrutigerLTArabic-55Roman"/>
              </a:defRPr>
            </a:lvl1pPr>
          </a:lstStyle>
          <a:p>
            <a:r>
              <a:rPr lang="en-US" dirty="0"/>
              <a:t>College of Computing and Informatics</a:t>
            </a:r>
          </a:p>
          <a:p>
            <a:r>
              <a:rPr lang="en-US" dirty="0"/>
              <a:t>Information Technology Program</a:t>
            </a:r>
          </a:p>
          <a:p>
            <a:r>
              <a:rPr lang="en-US"/>
              <a:t>IT489</a:t>
            </a:r>
            <a:endParaRPr lang="en-US" dirty="0"/>
          </a:p>
          <a:p>
            <a:r>
              <a:rPr lang="en-US" dirty="0"/>
              <a:t>Senior Project II</a:t>
            </a:r>
            <a:endParaRPr dirty="0"/>
          </a:p>
        </p:txBody>
      </p:sp>
      <p:pic>
        <p:nvPicPr>
          <p:cNvPr id="2" name="Artboard 2@4x.png" descr="Artboard 2@4x.png">
            <a:extLst>
              <a:ext uri="{FF2B5EF4-FFF2-40B4-BE49-F238E27FC236}">
                <a16:creationId xmlns:a16="http://schemas.microsoft.com/office/drawing/2014/main" id="{09AA8D33-91CD-0093-34EC-6F4E978B2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898" y="5811861"/>
            <a:ext cx="6080963" cy="10505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13F"/>
          </a:solidFill>
          <a:ln w="12700">
            <a:solidFill>
              <a:srgbClr val="10213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68E5">
              <a:alpha val="72000"/>
            </a:srgbClr>
          </a:solidFill>
          <a:ln w="12700">
            <a:solidFill>
              <a:srgbClr val="1768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025585" y="0"/>
            <a:ext cx="3200400" cy="6858000"/>
          </a:xfrm>
          <a:prstGeom prst="rect">
            <a:avLst/>
          </a:prstGeom>
          <a:solidFill>
            <a:srgbClr val="6A5AE0">
              <a:alpha val="80000"/>
            </a:srgbClr>
          </a:solidFill>
          <a:ln w="12700">
            <a:solidFill>
              <a:srgbClr val="6A5A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987284" y="-612648"/>
            <a:ext cx="5212080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-565099" y="492252"/>
            <a:ext cx="12191695" cy="6858000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49808" y="1417320"/>
            <a:ext cx="530352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Family Shield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86384" y="2148840"/>
            <a:ext cx="50292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D7E7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Router-Based Parental Control System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86384" y="2578608"/>
            <a:ext cx="32004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BD3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Final Project Presentation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86384" y="3063240"/>
            <a:ext cx="2231136" cy="0"/>
          </a:xfrm>
          <a:prstGeom prst="line">
            <a:avLst/>
          </a:prstGeom>
          <a:noFill/>
          <a:ln w="12700">
            <a:solidFill>
              <a:srgbClr val="20C7C9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86384" y="4965192"/>
            <a:ext cx="62179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Mohammad Alobaidan  •  Ibrahim Alsanidi  •  Abdulmalik bin Juraybah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Mohammed Alsulayyih  •  Mohammed Zain Aldeen  •  Waleed Maashi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86384" y="5522976"/>
            <a:ext cx="393192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Supervised by Dr. Turki Albaker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86384" y="5806440"/>
            <a:ext cx="365760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BD3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SEU • College of Computing and Informatics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38EA29-91D4-06CF-D840-97A14FA439D5}"/>
              </a:ext>
            </a:extLst>
          </p:cNvPr>
          <p:cNvSpPr txBox="1"/>
          <p:nvPr/>
        </p:nvSpPr>
        <p:spPr>
          <a:xfrm>
            <a:off x="749808" y="4661392"/>
            <a:ext cx="6886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D7E7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 </a:t>
            </a:r>
            <a:r>
              <a:rPr lang="en-US" dirty="0" err="1">
                <a:solidFill>
                  <a:srgbClr val="D7E7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CyberSquad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237744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6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Shield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31089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Contents</a:t>
            </a:r>
            <a:endParaRPr lang="en-US" sz="4000" dirty="0"/>
          </a:p>
        </p:txBody>
      </p:sp>
      <p:pic>
        <p:nvPicPr>
          <p:cNvPr id="4" name="Image 0" descr="/mnt/data/cvmedia/image12.png"/>
          <p:cNvPicPr>
            <a:picLocks noChangeAspect="1"/>
          </p:cNvPicPr>
          <p:nvPr/>
        </p:nvPicPr>
        <p:blipFill>
          <a:blip r:embed="rId3"/>
          <a:srcRect l="20887" r="20887"/>
          <a:stretch/>
        </p:blipFill>
        <p:spPr>
          <a:xfrm>
            <a:off x="7150608" y="936553"/>
            <a:ext cx="4389120" cy="1417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783080"/>
            <a:ext cx="5029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0C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417320" y="1746504"/>
            <a:ext cx="55778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Background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777240" y="2221992"/>
            <a:ext cx="6217920" cy="0"/>
          </a:xfrm>
          <a:prstGeom prst="line">
            <a:avLst/>
          </a:prstGeom>
          <a:noFill/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2496312"/>
            <a:ext cx="5029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6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17320" y="2459736"/>
            <a:ext cx="55778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 and Methodology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77240" y="2935224"/>
            <a:ext cx="6217920" cy="0"/>
          </a:xfrm>
          <a:prstGeom prst="line">
            <a:avLst/>
          </a:prstGeom>
          <a:noFill/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240" y="3209544"/>
            <a:ext cx="5029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6A5A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17320" y="3172968"/>
            <a:ext cx="55778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Analysis and Design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777240" y="3648456"/>
            <a:ext cx="6217920" cy="0"/>
          </a:xfrm>
          <a:prstGeom prst="line">
            <a:avLst/>
          </a:prstGeom>
          <a:noFill/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" y="3922776"/>
            <a:ext cx="5029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31B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417320" y="3886200"/>
            <a:ext cx="55778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777240" y="4361688"/>
            <a:ext cx="6217920" cy="0"/>
          </a:xfrm>
          <a:prstGeom prst="line">
            <a:avLst/>
          </a:prstGeom>
          <a:noFill/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77240" y="4636008"/>
            <a:ext cx="5029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417320" y="4599432"/>
            <a:ext cx="55778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and Interfaces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777240" y="5074920"/>
            <a:ext cx="6217920" cy="0"/>
          </a:xfrm>
          <a:prstGeom prst="line">
            <a:avLst/>
          </a:prstGeom>
          <a:noFill/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77240" y="5349240"/>
            <a:ext cx="5029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45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417320" y="5312664"/>
            <a:ext cx="55778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Testing, Conclusion, and Future Work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777240" y="5788152"/>
            <a:ext cx="6217920" cy="0"/>
          </a:xfrm>
          <a:prstGeom prst="line">
            <a:avLst/>
          </a:prstGeom>
          <a:noFill/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144000" y="6492240"/>
            <a:ext cx="25603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SEU • College of Computing and Informatics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539728" y="6446520"/>
            <a:ext cx="256032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pic>
        <p:nvPicPr>
          <p:cNvPr id="25" name="Artboard 3@4x.png" descr="Artboard 3@4x.png">
            <a:extLst>
              <a:ext uri="{FF2B5EF4-FFF2-40B4-BE49-F238E27FC236}">
                <a16:creationId xmlns:a16="http://schemas.microsoft.com/office/drawing/2014/main" id="{F1A5F3D1-6C6F-894E-023F-09FF21ABB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0"/>
            <a:ext cx="5989152" cy="11624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161D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Family Shield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521440" y="6419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A9B2B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2368D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Contents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32688" y="1408176"/>
            <a:ext cx="384048" cy="384048"/>
          </a:xfrm>
          <a:prstGeom prst="ellipse">
            <a:avLst/>
          </a:prstGeom>
          <a:solidFill>
            <a:srgbClr val="22B8C7"/>
          </a:solidFill>
          <a:ln w="12700">
            <a:solidFill>
              <a:srgbClr val="22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32688" y="14996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81328" y="138988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Why Family Shield?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32688" y="1993392"/>
            <a:ext cx="384048" cy="384048"/>
          </a:xfrm>
          <a:prstGeom prst="ellipse">
            <a:avLst/>
          </a:prstGeom>
          <a:solidFill>
            <a:srgbClr val="2368D8"/>
          </a:solidFill>
          <a:ln w="12700">
            <a:solidFill>
              <a:srgbClr val="236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32688" y="2084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81328" y="197510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Objectives and Scope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32688" y="2578608"/>
            <a:ext cx="384048" cy="384048"/>
          </a:xfrm>
          <a:prstGeom prst="ellipse">
            <a:avLst/>
          </a:prstGeom>
          <a:solidFill>
            <a:srgbClr val="7161D4"/>
          </a:solidFill>
          <a:ln w="12700">
            <a:solidFill>
              <a:srgbClr val="7161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32688" y="26700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81328" y="2560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System Analysis and Design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32688" y="3163824"/>
            <a:ext cx="384048" cy="384048"/>
          </a:xfrm>
          <a:prstGeom prst="ellipse">
            <a:avLst/>
          </a:prstGeom>
          <a:solidFill>
            <a:srgbClr val="2AB26B"/>
          </a:solidFill>
          <a:ln w="12700">
            <a:solidFill>
              <a:srgbClr val="2AB2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32688" y="32552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81328" y="3145536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Methodology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32688" y="3749040"/>
            <a:ext cx="384048" cy="384048"/>
          </a:xfrm>
          <a:prstGeom prst="ellipse">
            <a:avLst/>
          </a:prstGeom>
          <a:solidFill>
            <a:srgbClr val="F3A21B"/>
          </a:solidFill>
          <a:ln w="12700">
            <a:solidFill>
              <a:srgbClr val="F3A21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32688" y="384048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481328" y="373075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Tech Stack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32688" y="4334256"/>
            <a:ext cx="384048" cy="384048"/>
          </a:xfrm>
          <a:prstGeom prst="ellipse">
            <a:avLst/>
          </a:prstGeom>
          <a:solidFill>
            <a:srgbClr val="2368D8"/>
          </a:solidFill>
          <a:ln w="12700">
            <a:solidFill>
              <a:srgbClr val="236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32688" y="44256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6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81328" y="431596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Core Features and Interfaces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32688" y="4919472"/>
            <a:ext cx="384048" cy="384048"/>
          </a:xfrm>
          <a:prstGeom prst="ellipse">
            <a:avLst/>
          </a:prstGeom>
          <a:solidFill>
            <a:srgbClr val="22B8C7"/>
          </a:solidFill>
          <a:ln w="12700">
            <a:solidFill>
              <a:srgbClr val="22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32688" y="501091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7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481328" y="490118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Testing and Validation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32688" y="5504688"/>
            <a:ext cx="384048" cy="384048"/>
          </a:xfrm>
          <a:prstGeom prst="ellipse">
            <a:avLst/>
          </a:prstGeom>
          <a:solidFill>
            <a:srgbClr val="7161D4"/>
          </a:solidFill>
          <a:ln w="12700">
            <a:solidFill>
              <a:srgbClr val="7161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32688" y="55961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8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481328" y="54864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Conclusion and Future Work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183880" y="1828800"/>
            <a:ext cx="33832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24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257032" y="4087368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0B853D87-6EDA-671D-DFEA-E4A2E1F44F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3900" y="1600200"/>
            <a:ext cx="3063240" cy="3063240"/>
          </a:xfrm>
          <a:prstGeom prst="rect">
            <a:avLst/>
          </a:prstGeom>
        </p:spPr>
      </p:pic>
      <p:pic>
        <p:nvPicPr>
          <p:cNvPr id="30" name="Artboard 3@4x.png" descr="Artboard 3@4x.png">
            <a:extLst>
              <a:ext uri="{FF2B5EF4-FFF2-40B4-BE49-F238E27FC236}">
                <a16:creationId xmlns:a16="http://schemas.microsoft.com/office/drawing/2014/main" id="{4EC8C454-3272-7158-B2EA-8911504F5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0"/>
            <a:ext cx="5989152" cy="11624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161D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Family Shield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521440" y="6419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A9B2B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3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2368D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Why Family Shield?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4892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23544" y="1399032"/>
            <a:ext cx="100584" cy="1728216"/>
          </a:xfrm>
          <a:prstGeom prst="roundRect">
            <a:avLst>
              <a:gd name="adj" fmla="val 54545"/>
            </a:avLst>
          </a:prstGeom>
          <a:solidFill>
            <a:srgbClr val="22B8C7"/>
          </a:solidFill>
          <a:ln w="12700">
            <a:solidFill>
              <a:srgbClr val="22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14356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Problem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1892808"/>
            <a:ext cx="4389120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Children spend more time online across phones, laptops, and tablets.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Many router interfaces are technical and difficult for parents to use.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App-level parental controls do not consistently protect every device at home.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7240" y="3566160"/>
            <a:ext cx="4892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23544" y="3730752"/>
            <a:ext cx="100584" cy="1728216"/>
          </a:xfrm>
          <a:prstGeom prst="roundRect">
            <a:avLst>
              <a:gd name="adj" fmla="val 54545"/>
            </a:avLst>
          </a:prstGeom>
          <a:solidFill>
            <a:srgbClr val="2368D8"/>
          </a:solidFill>
          <a:ln w="12700">
            <a:solidFill>
              <a:srgbClr val="236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37673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Proposed Solution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4224528"/>
            <a:ext cx="4389120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Family Shield provides an easy-to-use gateway for parents through the home router.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Controls are applied from one dashboard to devices connected by Wi-Fi or Ethernet.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The interface focuses on readable names, simple actions, and minimal setup.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80760" y="123444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524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153912" y="5367528"/>
            <a:ext cx="5202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26BDFDD-B909-C5E0-443A-DE9AE536F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877" y="286512"/>
            <a:ext cx="6003006" cy="5337048"/>
          </a:xfrm>
          <a:prstGeom prst="rect">
            <a:avLst/>
          </a:prstGeom>
        </p:spPr>
      </p:pic>
      <p:pic>
        <p:nvPicPr>
          <p:cNvPr id="14" name="Artboard 3@4x.png" descr="Artboard 3@4x.png">
            <a:extLst>
              <a:ext uri="{FF2B5EF4-FFF2-40B4-BE49-F238E27FC236}">
                <a16:creationId xmlns:a16="http://schemas.microsoft.com/office/drawing/2014/main" id="{FCC533FA-4C65-9015-848C-E7E9ACB4D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0"/>
            <a:ext cx="5989152" cy="11624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161D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Family Shield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521440" y="6419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A9B2B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4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2368D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Objectives and Scope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50292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23544" y="1353312"/>
            <a:ext cx="100584" cy="4105656"/>
          </a:xfrm>
          <a:prstGeom prst="roundRect">
            <a:avLst>
              <a:gd name="adj" fmla="val 54545"/>
            </a:avLst>
          </a:prstGeom>
          <a:solidFill>
            <a:srgbClr val="22B8C7"/>
          </a:solidFill>
          <a:ln w="12700">
            <a:solidFill>
              <a:srgbClr val="22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138988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Project Objectives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1847088"/>
            <a:ext cx="4526280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250000"/>
              </a:lnSpc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Build a parent-friendly web dashboard.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50000"/>
              </a:lnSpc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Detect connected devices and show readable names.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50000"/>
              </a:lnSpc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Provide one-click pause for selected devices.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50000"/>
              </a:lnSpc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Support category-based DNS content filtering.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50000"/>
              </a:lnSpc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Apply daily schedule windows automatically.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99632" y="118872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45936" y="1353312"/>
            <a:ext cx="100584" cy="1682496"/>
          </a:xfrm>
          <a:prstGeom prst="roundRect">
            <a:avLst>
              <a:gd name="adj" fmla="val 54545"/>
            </a:avLst>
          </a:prstGeom>
          <a:solidFill>
            <a:srgbClr val="7161D4"/>
          </a:solidFill>
          <a:ln w="12700">
            <a:solidFill>
              <a:srgbClr val="7161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65392" y="138988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Project Scope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65392" y="1847088"/>
            <a:ext cx="452628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Local router-based prototype running on OpenWrt.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Covers Wi-Fi and Ethernet devices on the home network.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Stores device settings and rules locally using JSON.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99632" y="361188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45936" y="3776472"/>
            <a:ext cx="100584" cy="1682496"/>
          </a:xfrm>
          <a:prstGeom prst="roundRect">
            <a:avLst>
              <a:gd name="adj" fmla="val 54545"/>
            </a:avLst>
          </a:prstGeom>
          <a:solidFill>
            <a:srgbClr val="2AB26B"/>
          </a:solidFill>
          <a:ln w="12700">
            <a:solidFill>
              <a:srgbClr val="2AB2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65392" y="381304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Expected Outcome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65392" y="4270248"/>
            <a:ext cx="452628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A working prototype that demonstrates device control, scheduling, and filtering in one clear interface.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Designed for parents rather than technical network administrators.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Artboard 3@4x.png" descr="Artboard 3@4x.png">
            <a:extLst>
              <a:ext uri="{FF2B5EF4-FFF2-40B4-BE49-F238E27FC236}">
                <a16:creationId xmlns:a16="http://schemas.microsoft.com/office/drawing/2014/main" id="{41AB02A8-9C57-F4D9-56CB-D2D9A7E83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0"/>
            <a:ext cx="5989152" cy="11624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161D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Family Shield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521440" y="6419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A9B2B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5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2368D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System Analysis and Design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23544" y="1581912"/>
            <a:ext cx="100584" cy="1179576"/>
          </a:xfrm>
          <a:prstGeom prst="roundRect">
            <a:avLst>
              <a:gd name="adj" fmla="val 54545"/>
            </a:avLst>
          </a:prstGeom>
          <a:solidFill>
            <a:srgbClr val="22B8C7"/>
          </a:solidFill>
          <a:ln w="12700">
            <a:solidFill>
              <a:srgbClr val="22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16184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Main Actor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2075688"/>
            <a:ext cx="274320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Parent uses the dashboard to manage devices, schedules, and content categories.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26864" y="1581912"/>
            <a:ext cx="100584" cy="1179576"/>
          </a:xfrm>
          <a:prstGeom prst="roundRect">
            <a:avLst>
              <a:gd name="adj" fmla="val 54545"/>
            </a:avLst>
          </a:prstGeom>
          <a:solidFill>
            <a:srgbClr val="2368D8"/>
          </a:solidFill>
          <a:ln w="12700">
            <a:solidFill>
              <a:srgbClr val="236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46320" y="16184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Controlled Object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46320" y="2075688"/>
            <a:ext cx="274320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Child devices are recognized by MAC address and affected by router rules.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330184" y="1581912"/>
            <a:ext cx="100584" cy="1179576"/>
          </a:xfrm>
          <a:prstGeom prst="roundRect">
            <a:avLst>
              <a:gd name="adj" fmla="val 54545"/>
            </a:avLst>
          </a:prstGeom>
          <a:solidFill>
            <a:srgbClr val="7161D4"/>
          </a:solidFill>
          <a:ln w="12700">
            <a:solidFill>
              <a:srgbClr val="7161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49640" y="16184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System Boundary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49640" y="2075688"/>
            <a:ext cx="274320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OpenWrt router runs the backend, stores JSON data, and applies network rules.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68680" y="342900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2AB26B"/>
          </a:solidFill>
          <a:ln w="12700">
            <a:solidFill>
              <a:srgbClr val="2AB2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8680" y="34975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Simplified Design Flow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14400" y="3931920"/>
            <a:ext cx="1874520" cy="685800"/>
          </a:xfrm>
          <a:prstGeom prst="roundRect">
            <a:avLst>
              <a:gd name="adj" fmla="val 10667"/>
            </a:avLst>
          </a:prstGeom>
          <a:solidFill>
            <a:srgbClr val="E9F8FB"/>
          </a:solidFill>
          <a:ln w="1270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4400" y="413308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Parent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862072" y="4114800"/>
            <a:ext cx="329184" cy="320040"/>
          </a:xfrm>
          <a:prstGeom prst="chevron">
            <a:avLst/>
          </a:prstGeom>
          <a:solidFill>
            <a:srgbClr val="2368D8"/>
          </a:solidFill>
          <a:ln w="12700">
            <a:solidFill>
              <a:srgbClr val="236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18688" y="3931920"/>
            <a:ext cx="1874520" cy="685800"/>
          </a:xfrm>
          <a:prstGeom prst="roundRect">
            <a:avLst>
              <a:gd name="adj" fmla="val 10667"/>
            </a:avLst>
          </a:prstGeom>
          <a:solidFill>
            <a:srgbClr val="EAF2FF"/>
          </a:solidFill>
          <a:ln w="1270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18688" y="413308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Dashboard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166360" y="4114800"/>
            <a:ext cx="329184" cy="320040"/>
          </a:xfrm>
          <a:prstGeom prst="chevron">
            <a:avLst/>
          </a:prstGeom>
          <a:solidFill>
            <a:srgbClr val="2368D8"/>
          </a:solidFill>
          <a:ln w="12700">
            <a:solidFill>
              <a:srgbClr val="236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522976" y="3931920"/>
            <a:ext cx="1874520" cy="685800"/>
          </a:xfrm>
          <a:prstGeom prst="roundRect">
            <a:avLst>
              <a:gd name="adj" fmla="val 10667"/>
            </a:avLst>
          </a:prstGeom>
          <a:solidFill>
            <a:srgbClr val="F0EEFF"/>
          </a:solidFill>
          <a:ln w="1270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522976" y="413308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Flask API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470648" y="4114800"/>
            <a:ext cx="329184" cy="320040"/>
          </a:xfrm>
          <a:prstGeom prst="chevron">
            <a:avLst/>
          </a:prstGeom>
          <a:solidFill>
            <a:srgbClr val="2368D8"/>
          </a:solidFill>
          <a:ln w="12700">
            <a:solidFill>
              <a:srgbClr val="236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827264" y="3931920"/>
            <a:ext cx="1874520" cy="685800"/>
          </a:xfrm>
          <a:prstGeom prst="roundRect">
            <a:avLst>
              <a:gd name="adj" fmla="val 10667"/>
            </a:avLst>
          </a:prstGeom>
          <a:solidFill>
            <a:srgbClr val="FFF4E4"/>
          </a:solidFill>
          <a:ln w="1270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827264" y="413308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Router Rules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774936" y="4114800"/>
            <a:ext cx="329184" cy="320040"/>
          </a:xfrm>
          <a:prstGeom prst="chevron">
            <a:avLst/>
          </a:prstGeom>
          <a:solidFill>
            <a:srgbClr val="2368D8"/>
          </a:solidFill>
          <a:ln w="12700">
            <a:solidFill>
              <a:srgbClr val="236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0131552" y="3931920"/>
            <a:ext cx="1874520" cy="685800"/>
          </a:xfrm>
          <a:prstGeom prst="roundRect">
            <a:avLst>
              <a:gd name="adj" fmla="val 10667"/>
            </a:avLst>
          </a:prstGeom>
          <a:solidFill>
            <a:srgbClr val="EAF8EF"/>
          </a:solidFill>
          <a:ln w="1270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131552" y="413308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Connected Devices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05840" y="5166360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The design is intentionally simple: the parent sends an action from the dashboard, the backend updates local JSON configuration, and the router applies the matching rule.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Artboard 3@4x.png" descr="Artboard 3@4x.png">
            <a:extLst>
              <a:ext uri="{FF2B5EF4-FFF2-40B4-BE49-F238E27FC236}">
                <a16:creationId xmlns:a16="http://schemas.microsoft.com/office/drawing/2014/main" id="{2F47CD66-3E8B-ED18-C4DF-BAF54D18E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0"/>
            <a:ext cx="5989152" cy="11624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161D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Family Shield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521440" y="6419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A9B2B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6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2368D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Methodology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12648" y="941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(Agile methodology)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411480" cy="411480"/>
          </a:xfrm>
          <a:prstGeom prst="ellipse">
            <a:avLst/>
          </a:prstGeom>
          <a:solidFill>
            <a:srgbClr val="22B8C7"/>
          </a:solidFill>
          <a:ln w="12700">
            <a:solidFill>
              <a:srgbClr val="22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159105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81328" y="14904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Research and Analysis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81328" y="18105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2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Study the problem and define parent-centered requirements.</a:t>
            </a:r>
            <a:endParaRPr lang="en-US" sz="14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14400" y="2514600"/>
            <a:ext cx="411480" cy="411480"/>
          </a:xfrm>
          <a:prstGeom prst="ellipse">
            <a:avLst/>
          </a:prstGeom>
          <a:solidFill>
            <a:srgbClr val="2368D8"/>
          </a:solidFill>
          <a:ln w="12700">
            <a:solidFill>
              <a:srgbClr val="236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25968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81328" y="24963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Design and Prototyping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81328" y="28163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2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Plan dashboard screens and router integration approach.</a:t>
            </a:r>
            <a:endParaRPr lang="en-US" sz="14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4400" y="3520440"/>
            <a:ext cx="411480" cy="411480"/>
          </a:xfrm>
          <a:prstGeom prst="ellipse">
            <a:avLst/>
          </a:prstGeom>
          <a:solidFill>
            <a:srgbClr val="7161D4"/>
          </a:solidFill>
          <a:ln w="12700">
            <a:solidFill>
              <a:srgbClr val="7161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" y="36027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3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81328" y="35021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Development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81328" y="38221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2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Implement backend modules, dashboard pages, and router-side rules.</a:t>
            </a:r>
            <a:endParaRPr lang="en-US" sz="14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0" y="1508760"/>
            <a:ext cx="411480" cy="411480"/>
          </a:xfrm>
          <a:prstGeom prst="ellipse">
            <a:avLst/>
          </a:prstGeom>
          <a:solidFill>
            <a:srgbClr val="2AB26B"/>
          </a:solidFill>
          <a:ln w="12700">
            <a:solidFill>
              <a:srgbClr val="2AB2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0" y="159105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4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967728" y="14904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Testing and Feedback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967728" y="18105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2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Validate flows on real devices and improve interface wording.</a:t>
            </a:r>
            <a:endParaRPr lang="en-US" sz="14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0" y="2514600"/>
            <a:ext cx="411480" cy="411480"/>
          </a:xfrm>
          <a:prstGeom prst="ellipse">
            <a:avLst/>
          </a:prstGeom>
          <a:solidFill>
            <a:srgbClr val="F3A21B"/>
          </a:solidFill>
          <a:ln w="12700">
            <a:solidFill>
              <a:srgbClr val="F3A21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25968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5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967728" y="24963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Final Integration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967728" y="28163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2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Prepare the final prototype, setup steps, and presentation.</a:t>
            </a:r>
            <a:endParaRPr lang="en-US" sz="14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120140" y="5014762"/>
            <a:ext cx="98526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325880" y="5179354"/>
            <a:ext cx="100584" cy="996696"/>
          </a:xfrm>
          <a:prstGeom prst="roundRect">
            <a:avLst>
              <a:gd name="adj" fmla="val 54545"/>
            </a:avLst>
          </a:prstGeom>
          <a:solidFill>
            <a:srgbClr val="2368D8"/>
          </a:solidFill>
          <a:ln w="12700">
            <a:solidFill>
              <a:srgbClr val="236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32204" y="517935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Implementation Modules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632204" y="5627409"/>
            <a:ext cx="9051838" cy="5801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OpenWrt Setup → Device Discovery → Content Filtering → Device Control → Time Scheduling → Web Interface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Artboard 3@4x.png" descr="Artboard 3@4x.png">
            <a:extLst>
              <a:ext uri="{FF2B5EF4-FFF2-40B4-BE49-F238E27FC236}">
                <a16:creationId xmlns:a16="http://schemas.microsoft.com/office/drawing/2014/main" id="{CC9EE910-2781-F96E-DB22-48470D9BD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0"/>
            <a:ext cx="5989152" cy="11624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161D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Family Shield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521440" y="6419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A9B2B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7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2368D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Tech Stack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298448"/>
            <a:ext cx="3154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23544" y="1463040"/>
            <a:ext cx="100584" cy="1362456"/>
          </a:xfrm>
          <a:prstGeom prst="roundRect">
            <a:avLst>
              <a:gd name="adj" fmla="val 54545"/>
            </a:avLst>
          </a:prstGeom>
          <a:solidFill>
            <a:srgbClr val="22B8C7"/>
          </a:solidFill>
          <a:ln w="12700">
            <a:solidFill>
              <a:srgbClr val="22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14996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OpenWrt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1956816"/>
            <a:ext cx="265176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Router operating system and enforcement platform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89120" y="1298448"/>
            <a:ext cx="3154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35424" y="1463040"/>
            <a:ext cx="100584" cy="1362456"/>
          </a:xfrm>
          <a:prstGeom prst="roundRect">
            <a:avLst>
              <a:gd name="adj" fmla="val 54545"/>
            </a:avLst>
          </a:prstGeom>
          <a:solidFill>
            <a:srgbClr val="2368D8"/>
          </a:solidFill>
          <a:ln w="12700">
            <a:solidFill>
              <a:srgbClr val="236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54880" y="14996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Python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0" y="1956816"/>
            <a:ext cx="265176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Backend logic for device and rule management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01000" y="1298448"/>
            <a:ext cx="3154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47304" y="1463040"/>
            <a:ext cx="100584" cy="1362456"/>
          </a:xfrm>
          <a:prstGeom prst="roundRect">
            <a:avLst>
              <a:gd name="adj" fmla="val 54545"/>
            </a:avLst>
          </a:prstGeom>
          <a:solidFill>
            <a:srgbClr val="7161D4"/>
          </a:solidFill>
          <a:ln w="12700">
            <a:solidFill>
              <a:srgbClr val="7161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66760" y="14996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Flask API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66760" y="1956816"/>
            <a:ext cx="265176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REST endpoints and dashboard routing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7240" y="3703320"/>
            <a:ext cx="3154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23544" y="3867912"/>
            <a:ext cx="100584" cy="1362456"/>
          </a:xfrm>
          <a:prstGeom prst="roundRect">
            <a:avLst>
              <a:gd name="adj" fmla="val 54545"/>
            </a:avLst>
          </a:prstGeom>
          <a:solidFill>
            <a:srgbClr val="2AB26B"/>
          </a:solidFill>
          <a:ln w="12700">
            <a:solidFill>
              <a:srgbClr val="2AB2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" y="39044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JSON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43000" y="4361688"/>
            <a:ext cx="265176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Local configuration and rule storage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389120" y="3703320"/>
            <a:ext cx="3154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35424" y="3867912"/>
            <a:ext cx="100584" cy="1362456"/>
          </a:xfrm>
          <a:prstGeom prst="roundRect">
            <a:avLst>
              <a:gd name="adj" fmla="val 54545"/>
            </a:avLst>
          </a:prstGeom>
          <a:solidFill>
            <a:srgbClr val="F3A21B"/>
          </a:solidFill>
          <a:ln w="12700">
            <a:solidFill>
              <a:srgbClr val="F3A21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54880" y="39044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HTML/CSS/JS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54880" y="4361688"/>
            <a:ext cx="265176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Frontend dashboard interface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001000" y="3703320"/>
            <a:ext cx="3154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47304" y="3867912"/>
            <a:ext cx="100584" cy="1362456"/>
          </a:xfrm>
          <a:prstGeom prst="roundRect">
            <a:avLst>
              <a:gd name="adj" fmla="val 54545"/>
            </a:avLst>
          </a:prstGeom>
          <a:solidFill>
            <a:srgbClr val="22B8C7"/>
          </a:solidFill>
          <a:ln w="12700">
            <a:solidFill>
              <a:srgbClr val="22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66760" y="39044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Router Services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66760" y="4361688"/>
            <a:ext cx="265176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dnsmasq, iptables, cron, DHCP, and ARP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Artboard 3@4x.png" descr="Artboard 3@4x.png">
            <a:extLst>
              <a:ext uri="{FF2B5EF4-FFF2-40B4-BE49-F238E27FC236}">
                <a16:creationId xmlns:a16="http://schemas.microsoft.com/office/drawing/2014/main" id="{7AB34F31-6A7C-C7F0-5988-8081D2DB9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0"/>
            <a:ext cx="5989152" cy="11624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161D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Family Shield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521440" y="6419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A9B2B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8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2368D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Core Features Overview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5166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23544" y="1353312"/>
            <a:ext cx="100584" cy="1133856"/>
          </a:xfrm>
          <a:prstGeom prst="roundRect">
            <a:avLst>
              <a:gd name="adj" fmla="val 54545"/>
            </a:avLst>
          </a:prstGeom>
          <a:solidFill>
            <a:srgbClr val="22B8C7"/>
          </a:solidFill>
          <a:ln w="12700">
            <a:solidFill>
              <a:srgbClr val="22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138988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Device Management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52144" y="1636776"/>
            <a:ext cx="46634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Reads DHCP leases and ARP table data to discover devices.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Allows parents to assign readable device names and profiles.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7240" y="2880360"/>
            <a:ext cx="5166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23544" y="3044952"/>
            <a:ext cx="100584" cy="1133856"/>
          </a:xfrm>
          <a:prstGeom prst="roundRect">
            <a:avLst>
              <a:gd name="adj" fmla="val 54545"/>
            </a:avLst>
          </a:prstGeom>
          <a:solidFill>
            <a:srgbClr val="2368D8"/>
          </a:solidFill>
          <a:ln w="12700">
            <a:solidFill>
              <a:srgbClr val="236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308152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Control and Scheduling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32928" y="3418412"/>
            <a:ext cx="46634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Pause or resume a device using MAC-based firewall rules.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Apply daily internet block windows through cron jobs.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7240" y="4572000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23544" y="4736592"/>
            <a:ext cx="100584" cy="768096"/>
          </a:xfrm>
          <a:prstGeom prst="roundRect">
            <a:avLst>
              <a:gd name="adj" fmla="val 54545"/>
            </a:avLst>
          </a:prstGeom>
          <a:solidFill>
            <a:srgbClr val="7161D4"/>
          </a:solidFill>
          <a:ln w="12700">
            <a:solidFill>
              <a:srgbClr val="7161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47731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Content Filtering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32928" y="5062407"/>
            <a:ext cx="46634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Uses dnsmasq category rules for domain-level filtering.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63640" y="1186073"/>
            <a:ext cx="2331720" cy="2197207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0" descr="/mnt/data/FF907289-26C6-4326-9C5F-ED91CFE66E2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77513"/>
            <a:ext cx="2331720" cy="183144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336792" y="3221335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8FA6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Devices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869680" y="1188719"/>
            <a:ext cx="2331720" cy="2197207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1" descr="/mnt/data/A4674DF3-3C79-4670-8E0F-6B3B3091108D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1277513"/>
            <a:ext cx="2331720" cy="1831447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942832" y="3136392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8FA6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Schedules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6263640" y="3657600"/>
            <a:ext cx="4937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2" descr="/mnt/data/54605403-96F0-440F-BD81-E27450829F8A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185" y="3730752"/>
            <a:ext cx="3068671" cy="16276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36792" y="5413248"/>
            <a:ext cx="4791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8FA6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Content filtering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Artboard 3@4x.png" descr="Artboard 3@4x.png">
            <a:extLst>
              <a:ext uri="{FF2B5EF4-FFF2-40B4-BE49-F238E27FC236}">
                <a16:creationId xmlns:a16="http://schemas.microsoft.com/office/drawing/2014/main" id="{157E6356-1029-559B-46F7-4FF873039F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0"/>
            <a:ext cx="5989152" cy="11624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161D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Family Shield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521440" y="6419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A9B2B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9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2368D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User Interfaces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49808" y="1143000"/>
            <a:ext cx="352044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524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/mnt/data/FF907289-26C6-4326-9C5F-ED91CFE66E2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98503"/>
            <a:ext cx="3374136" cy="17932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29000"/>
            <a:ext cx="3374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8FA6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Devices page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34256" y="1143000"/>
            <a:ext cx="352044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524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/mnt/data/6E4A38ED-9950-4952-A58A-18E0AF2C0AD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1395870"/>
            <a:ext cx="3374136" cy="17985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07408" y="3429000"/>
            <a:ext cx="3374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8FA6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Device edit dialog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7918704" y="1143000"/>
            <a:ext cx="352044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524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2" descr="/mnt/data/54605403-96F0-440F-BD81-E27450829F8A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856" y="1400318"/>
            <a:ext cx="3374136" cy="17896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91856" y="3429000"/>
            <a:ext cx="3374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8FA6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Content filter page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49808" y="3977640"/>
            <a:ext cx="35204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896112" y="4142232"/>
            <a:ext cx="100584" cy="841248"/>
          </a:xfrm>
          <a:prstGeom prst="roundRect">
            <a:avLst>
              <a:gd name="adj" fmla="val 54545"/>
            </a:avLst>
          </a:prstGeom>
          <a:solidFill>
            <a:srgbClr val="22B8C7"/>
          </a:solidFill>
          <a:ln w="12700">
            <a:solidFill>
              <a:srgbClr val="22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1115568" y="41788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Devices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115568" y="4636008"/>
            <a:ext cx="30175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View device names, profile labels, online status, and pause actions.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334256" y="3977640"/>
            <a:ext cx="35204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480560" y="4142232"/>
            <a:ext cx="100584" cy="841248"/>
          </a:xfrm>
          <a:prstGeom prst="roundRect">
            <a:avLst>
              <a:gd name="adj" fmla="val 54545"/>
            </a:avLst>
          </a:prstGeom>
          <a:solidFill>
            <a:srgbClr val="2368D8"/>
          </a:solidFill>
          <a:ln w="12700">
            <a:solidFill>
              <a:srgbClr val="236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700016" y="41788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Edit Rules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4700016" y="4636008"/>
            <a:ext cx="30175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Set profiles, blocked categories, and schedule windows from one modal.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7918704" y="3977640"/>
            <a:ext cx="35204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8065008" y="4142232"/>
            <a:ext cx="100584" cy="841248"/>
          </a:xfrm>
          <a:prstGeom prst="roundRect">
            <a:avLst>
              <a:gd name="adj" fmla="val 54545"/>
            </a:avLst>
          </a:prstGeom>
          <a:solidFill>
            <a:srgbClr val="7161D4"/>
          </a:solidFill>
          <a:ln w="12700">
            <a:solidFill>
              <a:srgbClr val="7161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8284464" y="41788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Filtering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8284464" y="4636008"/>
            <a:ext cx="30175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Review active category rules by device in a simple overview.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914400" y="58064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The interface keeps the technical router logic hidden and gives parents a small number of clear actions.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Artboard 3@4x.png" descr="Artboard 3@4x.png">
            <a:extLst>
              <a:ext uri="{FF2B5EF4-FFF2-40B4-BE49-F238E27FC236}">
                <a16:creationId xmlns:a16="http://schemas.microsoft.com/office/drawing/2014/main" id="{8ADECD60-B28F-C3C8-7A79-BE0EB56E7B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0"/>
            <a:ext cx="5989152" cy="11624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161D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Family Shield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521440" y="6419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A9B2B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10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2368D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Testing and Validation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23544" y="1353312"/>
            <a:ext cx="100584" cy="1591056"/>
          </a:xfrm>
          <a:prstGeom prst="roundRect">
            <a:avLst>
              <a:gd name="adj" fmla="val 54545"/>
            </a:avLst>
          </a:prstGeom>
          <a:solidFill>
            <a:srgbClr val="22B8C7"/>
          </a:solidFill>
          <a:ln w="12700">
            <a:solidFill>
              <a:srgbClr val="22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138988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Functional Validation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1847088"/>
            <a:ext cx="466344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Dashboard opens and loads devices.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Pause action applies a firewall rule.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Schedule rules are saved and executed.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Selected categories generate DNS rules.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7240" y="342900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23544" y="3593592"/>
            <a:ext cx="100584" cy="1591056"/>
          </a:xfrm>
          <a:prstGeom prst="roundRect">
            <a:avLst>
              <a:gd name="adj" fmla="val 54545"/>
            </a:avLst>
          </a:prstGeom>
          <a:solidFill>
            <a:srgbClr val="2368D8"/>
          </a:solidFill>
          <a:ln w="12700">
            <a:solidFill>
              <a:srgbClr val="236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36301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Test Environment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4087368"/>
            <a:ext cx="466344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OpenWrt router with backend and frontend deployed locally.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Multiple test devices connected through Wi-Fi and Ethernet.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JSON files checked after interface changes.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48402" y="1188720"/>
            <a:ext cx="48920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55664" y="1353312"/>
            <a:ext cx="100584" cy="3831336"/>
          </a:xfrm>
          <a:prstGeom prst="roundRect">
            <a:avLst>
              <a:gd name="adj" fmla="val 54545"/>
            </a:avLst>
          </a:prstGeom>
          <a:solidFill>
            <a:srgbClr val="2AB26B"/>
          </a:solidFill>
          <a:ln w="12700">
            <a:solidFill>
              <a:srgbClr val="2AB2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75120" y="138988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Quality Goals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75120" y="1847088"/>
            <a:ext cx="4389120" cy="3410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250000"/>
              </a:lnSpc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Simple wording that parents can understand.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50000"/>
              </a:lnSpc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Fast local dashboard response.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50000"/>
              </a:lnSpc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Reliable rule application on the router.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50000"/>
              </a:lnSpc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Minimal CPU and memory overhead.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50000"/>
              </a:lnSpc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Safe recovery through editable local configuration.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Artboard 3@4x.png" descr="Artboard 3@4x.png">
            <a:extLst>
              <a:ext uri="{FF2B5EF4-FFF2-40B4-BE49-F238E27FC236}">
                <a16:creationId xmlns:a16="http://schemas.microsoft.com/office/drawing/2014/main" id="{DC8A8094-06D3-2686-FFA6-03F0794D8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0"/>
            <a:ext cx="5989152" cy="11624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161D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Family Shield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521440" y="6419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A9B2B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11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2368D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Conclusion and Future Work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23544" y="1353312"/>
            <a:ext cx="100584" cy="3968496"/>
          </a:xfrm>
          <a:prstGeom prst="roundRect">
            <a:avLst>
              <a:gd name="adj" fmla="val 54545"/>
            </a:avLst>
          </a:prstGeom>
          <a:solidFill>
            <a:srgbClr val="22B8C7"/>
          </a:solidFill>
          <a:ln w="12700">
            <a:solidFill>
              <a:srgbClr val="22B8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138988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Conclusion and Main Contribution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1847088"/>
            <a:ext cx="4800600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Family Shield shows that router-based parental control can be practical and parent-friendly.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The prototype combines device control, DNS filtering, and scheduling into one simple dashboard.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Its main value is simplifying router management for everyday parents.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0" y="1188720"/>
            <a:ext cx="47548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3970">
            <a:solidFill>
              <a:srgbClr val="D7E2F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47104" y="1353312"/>
            <a:ext cx="100584" cy="3968496"/>
          </a:xfrm>
          <a:prstGeom prst="roundRect">
            <a:avLst>
              <a:gd name="adj" fmla="val 54545"/>
            </a:avLst>
          </a:prstGeom>
          <a:solidFill>
            <a:srgbClr val="7161D4"/>
          </a:solidFill>
          <a:ln w="12700">
            <a:solidFill>
              <a:srgbClr val="7161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66560" y="138988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33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Future Enhancements and Limits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66560" y="1847088"/>
            <a:ext cx="4251960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Add user authentication and stronger admin protection.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Improve bilingual support and exportable reports.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Enhance per-device DNS enforcement and allow-lists.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1480" dirty="0">
                <a:solidFill>
                  <a:srgbClr val="5F708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DNS-based filtering cannot inspect all encrypted traffic, and VPN/custom DNS may require extra controls.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Artboard 3@4x.png" descr="Artboard 3@4x.png">
            <a:extLst>
              <a:ext uri="{FF2B5EF4-FFF2-40B4-BE49-F238E27FC236}">
                <a16:creationId xmlns:a16="http://schemas.microsoft.com/office/drawing/2014/main" id="{12366090-F5B8-5D19-31EC-3D187FD95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0"/>
            <a:ext cx="5989152" cy="11624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68D8"/>
          </a:solidFill>
          <a:ln w="12700">
            <a:solidFill>
              <a:srgbClr val="2368D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-266700"/>
            <a:ext cx="12191695" cy="7124700"/>
          </a:xfrm>
          <a:prstGeom prst="rect">
            <a:avLst/>
          </a:prstGeom>
          <a:solidFill>
            <a:srgbClr val="7161D4">
              <a:alpha val="60000"/>
            </a:srgbClr>
          </a:solidFill>
          <a:ln w="12700">
            <a:solidFill>
              <a:srgbClr val="7161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0" y="201168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Thank You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0" y="2670048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AF2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Questions?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0" y="5074920"/>
            <a:ext cx="12191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Mohammad Alobaidan • Ibrahim Alsanidi • Abdulmalik bin Juraybah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Mohammed Alsulayyih • Mohammed Zain Aldeen • Waleed Maashi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Supervised by Dr. Turki Albaker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0" y="6080760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2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SEU • Final Project Presentation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E568C91-C2A0-5494-1ED0-CC435F0CE014}"/>
              </a:ext>
            </a:extLst>
          </p:cNvPr>
          <p:cNvSpPr/>
          <p:nvPr/>
        </p:nvSpPr>
        <p:spPr>
          <a:xfrm>
            <a:off x="9207551" y="-266700"/>
            <a:ext cx="12191695" cy="7124700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5B261197-F4B7-E761-8F89-6CE4A8DDF50F}"/>
              </a:ext>
            </a:extLst>
          </p:cNvPr>
          <p:cNvSpPr/>
          <p:nvPr/>
        </p:nvSpPr>
        <p:spPr>
          <a:xfrm>
            <a:off x="9874973" y="-133350"/>
            <a:ext cx="5212080" cy="71247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D979D82B-D77A-5368-DC07-736991D5BE3F}"/>
              </a:ext>
            </a:extLst>
          </p:cNvPr>
          <p:cNvSpPr/>
          <p:nvPr/>
        </p:nvSpPr>
        <p:spPr>
          <a:xfrm>
            <a:off x="-8638108" y="-266700"/>
            <a:ext cx="12191695" cy="7124700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11AAB113-C87E-5F2A-8CB7-47413350BFF9}"/>
              </a:ext>
            </a:extLst>
          </p:cNvPr>
          <p:cNvSpPr/>
          <p:nvPr/>
        </p:nvSpPr>
        <p:spPr>
          <a:xfrm>
            <a:off x="-2236356" y="-266700"/>
            <a:ext cx="5212080" cy="71247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FCC60E6-03F1-D3C8-ACC6-A88478B86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136398"/>
            <a:ext cx="1965092" cy="1077730"/>
          </a:xfrm>
          <a:prstGeom prst="rect">
            <a:avLst/>
          </a:prstGeom>
        </p:spPr>
      </p:pic>
      <p:pic>
        <p:nvPicPr>
          <p:cNvPr id="12" name="Artboard 2@4x.png" descr="Artboard 2@4x.png">
            <a:extLst>
              <a:ext uri="{FF2B5EF4-FFF2-40B4-BE49-F238E27FC236}">
                <a16:creationId xmlns:a16="http://schemas.microsoft.com/office/drawing/2014/main" id="{A733EC5B-1EE3-2782-FC57-CD9D341C2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4867" y="6080760"/>
            <a:ext cx="6080963" cy="10505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977</Words>
  <Application>Microsoft Office PowerPoint</Application>
  <PresentationFormat>Widescreen</PresentationFormat>
  <Paragraphs>205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Mohamed I. Habib</dc:creator>
  <cp:lastModifiedBy>WALEED ALI AHMED. MAASHI</cp:lastModifiedBy>
  <cp:revision>59</cp:revision>
  <dcterms:created xsi:type="dcterms:W3CDTF">2021-06-25T15:13:11Z</dcterms:created>
  <dcterms:modified xsi:type="dcterms:W3CDTF">2026-05-09T13:45:10Z</dcterms:modified>
</cp:coreProperties>
</file>